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_rels/chart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2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Revenue</c:v>
                </c:pt>
              </c:strCache>
            </c:strRef>
          </c:tx>
          <c:cat>
            <c:strRef>
              <c:f>Sheet1!$A$2:$A$6</c:f>
              <c:strCache>
                <c:ptCount val="5"/>
                <c:pt idx="0">
                  <c:v>Northeast</c:v>
                </c:pt>
                <c:pt idx="1">
                  <c:v>Southeast</c:v>
                </c:pt>
                <c:pt idx="2">
                  <c:v>Midwest</c:v>
                </c:pt>
                <c:pt idx="3">
                  <c:v>Southwest</c:v>
                </c:pt>
                <c:pt idx="4">
                  <c:v>West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9193018.68</c:v>
                </c:pt>
                <c:pt idx="1">
                  <c:v>8684029.520000001</c:v>
                </c:pt>
                <c:pt idx="2">
                  <c:v>8674942.050000008</c:v>
                </c:pt>
                <c:pt idx="3">
                  <c:v>8707310.960000006</c:v>
                </c:pt>
                <c:pt idx="4">
                  <c:v>10539152.829999989</c:v>
                </c:pt>
              </c:numCache>
            </c:numRef>
          </c:val>
        </c:ser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Gridlines/>
        <c:majorTickMark val="out"/>
        <c:minorTickMark val="none"/>
        <c:tickLblPos val="nextTo"/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chart>
    <c:autoTitleDeleted val="0"/>
    <c:plotArea>
      <c:pie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Revenue</c:v>
                </c:pt>
              </c:strCache>
            </c:strRef>
          </c:tx>
          <c:cat>
            <c:strRef>
              <c:f>Sheet1!$A$2:$A$4</c:f>
              <c:strCache>
                <c:ptCount val="3"/>
                <c:pt idx="0">
                  <c:v>Accessory</c:v>
                </c:pt>
                <c:pt idx="1">
                  <c:v>Guitar</c:v>
                </c:pt>
                <c:pt idx="2">
                  <c:v>Instrument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6043423.03</c:v>
                </c:pt>
                <c:pt idx="1">
                  <c:v>38253484.51999999</c:v>
                </c:pt>
                <c:pt idx="2">
                  <c:v>1501546.49</c:v>
                </c:pt>
              </c:numCache>
            </c:numRef>
          </c:val>
        </c:ser>
      </c:pieChart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4A2C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0972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3400">
                <a:solidFill>
                  <a:srgbClr val="FFFFFF"/>
                </a:solidFill>
                <a:latin typeface="Georgia"/>
              </a:defRPr>
            </a:pPr>
            <a:r>
              <a:t>GuitarSales Agent Chaining Demo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234440"/>
            <a:ext cx="7498079" cy="10058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>
                <a:solidFill>
                  <a:srgbClr val="FAF7F0"/>
                </a:solidFill>
              </a:defRPr>
            </a:pPr>
            <a:r>
              <a:t>Northstar Acoustic Works | Classification: Public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77240" y="3977639"/>
            <a:ext cx="1600200" cy="685800"/>
          </a:xfrm>
          <a:prstGeom prst="roundRect">
            <a:avLst/>
          </a:prstGeom>
          <a:solidFill>
            <a:srgbClr val="C99156"/>
          </a:solidFill>
          <a:ln>
            <a:solidFill>
              <a:srgbClr val="FAF7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 b="1" sz="1600"/>
            </a:pPr>
            <a:r>
              <a:t>Analyst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2926080" y="3977639"/>
            <a:ext cx="1600200" cy="685800"/>
          </a:xfrm>
          <a:prstGeom prst="roundRect">
            <a:avLst/>
          </a:prstGeom>
          <a:solidFill>
            <a:srgbClr val="C99156"/>
          </a:solidFill>
          <a:ln>
            <a:solidFill>
              <a:srgbClr val="FAF7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 b="1" sz="1600"/>
            </a:pPr>
            <a:r>
              <a:t>Word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074920" y="3977639"/>
            <a:ext cx="1600200" cy="685800"/>
          </a:xfrm>
          <a:prstGeom prst="roundRect">
            <a:avLst/>
          </a:prstGeom>
          <a:solidFill>
            <a:srgbClr val="C99156"/>
          </a:solidFill>
          <a:ln>
            <a:solidFill>
              <a:srgbClr val="FAF7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 b="1" sz="1600"/>
            </a:pPr>
            <a:r>
              <a:t>PowerPoint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223760" y="3977639"/>
            <a:ext cx="1600200" cy="685800"/>
          </a:xfrm>
          <a:prstGeom prst="roundRect">
            <a:avLst/>
          </a:prstGeom>
          <a:solidFill>
            <a:srgbClr val="C99156"/>
          </a:solidFill>
          <a:ln>
            <a:solidFill>
              <a:srgbClr val="FAF7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 b="1" sz="1600"/>
            </a:pPr>
            <a:r>
              <a:t>SharePoint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9372600" y="3977639"/>
            <a:ext cx="1600200" cy="685800"/>
          </a:xfrm>
          <a:prstGeom prst="roundRect">
            <a:avLst/>
          </a:prstGeom>
          <a:solidFill>
            <a:srgbClr val="C99156"/>
          </a:solidFill>
          <a:ln>
            <a:solidFill>
              <a:srgbClr val="FAF7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 b="1" sz="1600"/>
            </a:pPr>
            <a:r>
              <a:t>Chat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7F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0972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3400">
                <a:solidFill>
                  <a:srgbClr val="28231F"/>
                </a:solidFill>
                <a:latin typeface="Georgia"/>
              </a:defRPr>
            </a:pPr>
            <a:r>
              <a:t>Regional revenue story</a:t>
            </a:r>
          </a:p>
        </p:txBody>
      </p:sp>
      <p:graphicFrame>
        <p:nvGraphicFramePr>
          <p:cNvPr id="3" name="Chart 2"/>
          <p:cNvGraphicFramePr>
            <a:graphicFrameLocks noGrp="1"/>
          </p:cNvGraphicFramePr>
          <p:nvPr/>
        </p:nvGraphicFramePr>
        <p:xfrm>
          <a:off x="731520" y="1234440"/>
          <a:ext cx="6766560" cy="448056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7818120" y="1280160"/>
            <a:ext cx="3566160" cy="4114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28231F"/>
                </a:solidFill>
              </a:defRPr>
            </a:pPr>
            <a:r>
              <a:t>Narrative focus</a:t>
            </a:r>
          </a:p>
          <a:p>
            <a:pPr>
              <a:defRPr sz="1800">
                <a:solidFill>
                  <a:srgbClr val="28231F"/>
                </a:solidFill>
              </a:defRPr>
            </a:pPr>
          </a:p>
          <a:p>
            <a:pPr>
              <a:defRPr sz="1800">
                <a:solidFill>
                  <a:srgbClr val="28231F"/>
                </a:solidFill>
              </a:defRPr>
            </a:pPr>
            <a:r>
              <a:t>Use the Analyst agent output to isolate regional revenue momentum, margin pressure, and accessory attach opportunities. Keep the discussion grounded in synthetic sample data.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7F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0972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3400">
                <a:solidFill>
                  <a:srgbClr val="28231F"/>
                </a:solidFill>
                <a:latin typeface="Georgia"/>
              </a:defRPr>
            </a:pPr>
            <a:r>
              <a:t>Category mix and attach opportunity</a:t>
            </a:r>
          </a:p>
        </p:txBody>
      </p:sp>
      <p:graphicFrame>
        <p:nvGraphicFramePr>
          <p:cNvPr id="3" name="Chart 2"/>
          <p:cNvGraphicFramePr>
            <a:graphicFrameLocks noGrp="1"/>
          </p:cNvGraphicFramePr>
          <p:nvPr/>
        </p:nvGraphicFramePr>
        <p:xfrm>
          <a:off x="731520" y="1234440"/>
          <a:ext cx="5760720" cy="448056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4" name="Rounded Rectangle 3"/>
          <p:cNvSpPr/>
          <p:nvPr/>
        </p:nvSpPr>
        <p:spPr>
          <a:xfrm>
            <a:off x="6903720" y="1188720"/>
            <a:ext cx="4297680" cy="960120"/>
          </a:xfrm>
          <a:prstGeom prst="roundRect">
            <a:avLst/>
          </a:prstGeom>
          <a:solidFill>
            <a:srgbClr val="FFFFFF"/>
          </a:solidFill>
          <a:ln>
            <a:solidFill>
              <a:srgbClr val="C9915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 sz="1600"/>
            </a:pPr>
            <a:r>
              <a:t>Strings and care kits create repeat purchase motion.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903720" y="2606040"/>
            <a:ext cx="4297680" cy="960120"/>
          </a:xfrm>
          <a:prstGeom prst="roundRect">
            <a:avLst/>
          </a:prstGeom>
          <a:solidFill>
            <a:srgbClr val="FFFFFF"/>
          </a:solidFill>
          <a:ln>
            <a:solidFill>
              <a:srgbClr val="C9915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 sz="1600"/>
            </a:pPr>
            <a:r>
              <a:t>Cases and straps protect margin during tariff uncertainty.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903720" y="4023360"/>
            <a:ext cx="4297680" cy="960120"/>
          </a:xfrm>
          <a:prstGeom prst="roundRect">
            <a:avLst/>
          </a:prstGeom>
          <a:solidFill>
            <a:srgbClr val="FFFFFF"/>
          </a:solidFill>
          <a:ln>
            <a:solidFill>
              <a:srgbClr val="C9915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 sz="1600"/>
            </a:pPr>
            <a:r>
              <a:t>Model family mix guides dealer enablement.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7F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0972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3400">
                <a:solidFill>
                  <a:srgbClr val="28231F"/>
                </a:solidFill>
                <a:latin typeface="Georgia"/>
              </a:defRPr>
            </a:pPr>
            <a:r>
              <a:t>Agent creation demos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822960" y="1417320"/>
            <a:ext cx="4800600" cy="4023360"/>
          </a:xfrm>
          <a:prstGeom prst="roundRect">
            <a:avLst/>
          </a:prstGeom>
          <a:solidFill>
            <a:srgbClr val="FFFFFF"/>
          </a:solidFill>
          <a:ln>
            <a:solidFill>
              <a:srgbClr val="C9915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 b="1" sz="2200"/>
            </a:pPr>
            <a:r>
              <a:t>SharePoint agent</a:t>
            </a:r>
          </a:p>
          <a:p>
            <a:pPr>
              <a:defRPr sz="1600"/>
            </a:pPr>
            <a:r>
              <a:t>Ground on Shop Accident Response SOP. Share to Teams group chat. Answer safety process questions with section citations.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400800" y="1417320"/>
            <a:ext cx="4800600" cy="4023360"/>
          </a:xfrm>
          <a:prstGeom prst="roundRect">
            <a:avLst/>
          </a:prstGeom>
          <a:solidFill>
            <a:srgbClr val="FFFFFF"/>
          </a:solidFill>
          <a:ln>
            <a:solidFill>
              <a:srgbClr val="C9915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 b="1" sz="2200"/>
            </a:pPr>
            <a:r>
              <a:t>Chat agent</a:t>
            </a:r>
          </a:p>
          <a:p>
            <a:pPr>
              <a:defRPr sz="1600"/>
            </a:pPr>
            <a:r>
              <a:t>Ground on build guidelines and wood supplies. Recommend substitutions, cite material IDs, and explain availability constraints.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4A2C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0972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3400">
                <a:solidFill>
                  <a:srgbClr val="FFFFFF"/>
                </a:solidFill>
                <a:latin typeface="Georgia"/>
              </a:defRPr>
            </a:pPr>
            <a:r>
              <a:t>Leadership decisions enabled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914400" y="1325880"/>
            <a:ext cx="9875520" cy="658368"/>
          </a:xfrm>
          <a:prstGeom prst="roundRect">
            <a:avLst/>
          </a:prstGeom>
          <a:solidFill>
            <a:srgbClr val="C99156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 sz="2000" b="1"/>
            </a:pPr>
            <a:r>
              <a:t>Prioritize regional sales plays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914400" y="2331720"/>
            <a:ext cx="9875520" cy="658368"/>
          </a:xfrm>
          <a:prstGeom prst="roundRect">
            <a:avLst/>
          </a:prstGeom>
          <a:solidFill>
            <a:srgbClr val="FAF7F0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 sz="2000" b="1"/>
            </a:pPr>
            <a:r>
              <a:t>Adjust accessory bundles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914400" y="3337560"/>
            <a:ext cx="9875520" cy="658368"/>
          </a:xfrm>
          <a:prstGeom prst="roundRect">
            <a:avLst/>
          </a:prstGeom>
          <a:solidFill>
            <a:srgbClr val="C99156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 sz="2000" b="1"/>
            </a:pPr>
            <a:r>
              <a:t>Review high-risk wood supply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14400" y="4343400"/>
            <a:ext cx="9875520" cy="658368"/>
          </a:xfrm>
          <a:prstGeom prst="roundRect">
            <a:avLst/>
          </a:prstGeom>
          <a:solidFill>
            <a:srgbClr val="FAF7F0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 sz="2000" b="1"/>
            </a:pPr>
            <a:r>
              <a:t>Publish scoped agents to the right collaboration surface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